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D6EE8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-1097280"/>
            <a:ext cx="3200400" cy="3200400"/>
          </a:xfrm>
          <a:prstGeom prst="ellipse">
            <a:avLst/>
          </a:prstGeom>
          <a:solidFill>
            <a:srgbClr val="2D6EE8">
              <a:alpha val="18000"/>
            </a:srgbClr>
          </a:solidFill>
          <a:ln w="12700">
            <a:solidFill>
              <a:srgbClr val="2D6E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49440" y="-457200"/>
            <a:ext cx="2011680" cy="2011680"/>
          </a:xfrm>
          <a:prstGeom prst="ellipse">
            <a:avLst/>
          </a:prstGeom>
          <a:solidFill>
            <a:srgbClr val="7C3AED">
              <a:alpha val="22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solidFill>
            <a:srgbClr val="2D6EE8"/>
          </a:solidFill>
          <a:ln w="12700">
            <a:solidFill>
              <a:srgbClr val="2D6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3474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ResumAI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1097280"/>
            <a:ext cx="5943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Tailored Resumes.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10x Faster.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Powered by AI.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57200" y="315468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resume optimization that turns your experience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job-winning applications — in minutes, not hours.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4041648"/>
            <a:ext cx="1828800" cy="36576"/>
          </a:xfrm>
          <a:prstGeom prst="rect">
            <a:avLst/>
          </a:prstGeom>
          <a:solidFill>
            <a:srgbClr val="2D6EE8"/>
          </a:solidFill>
          <a:ln w="12700">
            <a:solidFill>
              <a:srgbClr val="2D6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206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  |  2025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0" y="1005840"/>
            <a:ext cx="24688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0" y="1005840"/>
            <a:ext cx="2468880" cy="384048"/>
          </a:xfrm>
          <a:prstGeom prst="rect">
            <a:avLst/>
          </a:prstGeom>
          <a:solidFill>
            <a:srgbClr val="2D6EE8"/>
          </a:solidFill>
          <a:ln w="12700">
            <a:solidFill>
              <a:srgbClr val="2D6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103327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AI Generating Resume...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92240" y="15087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Sarah Chen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92240" y="18745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2D6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SUMMARY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6492240" y="2084832"/>
            <a:ext cx="2194560" cy="82296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92240" y="2221992"/>
            <a:ext cx="1645920" cy="82296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2240" y="2359152"/>
            <a:ext cx="1920240" cy="82296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26060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2D6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492240" y="283464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Software Engineer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492240" y="3054096"/>
            <a:ext cx="2194560" cy="7315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92240" y="3182112"/>
            <a:ext cx="1828800" cy="7315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92240" y="3310128"/>
            <a:ext cx="2011680" cy="7315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35204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2D6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SKILLS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6492240" y="3749040"/>
            <a:ext cx="640080" cy="201168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374904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6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7178040" y="3749040"/>
            <a:ext cx="566928" cy="201168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78040" y="374904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6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7790688" y="3749040"/>
            <a:ext cx="548640" cy="201168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90688" y="37490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6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D6E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Job seekers are losing opportunities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before a human ever reads their resume.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2148840"/>
            <a:ext cx="27432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2148840"/>
            <a:ext cx="2743200" cy="54864"/>
          </a:xfrm>
          <a:prstGeom prst="rect">
            <a:avLst/>
          </a:prstGeom>
          <a:solidFill>
            <a:srgbClr val="2D6EE8"/>
          </a:solidFill>
          <a:ln w="12700">
            <a:solidFill>
              <a:srgbClr val="2D6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22860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02920" y="290779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Hours Wasted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3310128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Tailoring a resume for each job takes 2–4 hours of manual effort per application.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46120" y="2148840"/>
            <a:ext cx="27432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2148840"/>
            <a:ext cx="2743200" cy="54864"/>
          </a:xfrm>
          <a:prstGeom prst="rect">
            <a:avLst/>
          </a:prstGeom>
          <a:solidFill>
            <a:srgbClr val="2D6EE8"/>
          </a:solidFill>
          <a:ln w="12700">
            <a:solidFill>
              <a:srgbClr val="2D6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55848" y="22860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383280" y="290779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ATS Black Holes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83280" y="3310128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of resumes are rejected by Applicant Tracking Systems before reaching a recruiter.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26480" y="2148840"/>
            <a:ext cx="27432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2148840"/>
            <a:ext cx="2743200" cy="54864"/>
          </a:xfrm>
          <a:prstGeom prst="rect">
            <a:avLst/>
          </a:prstGeom>
          <a:solidFill>
            <a:srgbClr val="2D6EE8"/>
          </a:solidFill>
          <a:ln w="12700">
            <a:solidFill>
              <a:srgbClr val="2D6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36208" y="22860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263640" y="290779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Low Match Rates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63640" y="3310128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resumes fail to highlight relevant experience, leading to &lt;10% callback rates.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3657600" cy="3657600"/>
          </a:xfrm>
          <a:prstGeom prst="ellipse">
            <a:avLst/>
          </a:prstGeom>
          <a:solidFill>
            <a:srgbClr val="2D6EE8">
              <a:alpha val="12000"/>
            </a:srgbClr>
          </a:solidFill>
          <a:ln w="12700">
            <a:solidFill>
              <a:srgbClr val="2D6E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914400"/>
            <a:ext cx="2743200" cy="2743200"/>
          </a:xfrm>
          <a:prstGeom prst="ellipse">
            <a:avLst/>
          </a:prstGeom>
          <a:solidFill>
            <a:srgbClr val="7C3AED">
              <a:alpha val="18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6EE8">
              <a:alpha val="80000"/>
            </a:srgbClr>
          </a:solidFill>
          <a:ln w="12700">
            <a:solidFill>
              <a:srgbClr val="2D6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046720" y="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ResumAI — The AI Resume Engine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 Every Job Application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ResumAI reads your resume and the target job description, then generates a tailored,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ATS-optimized resume in under 60 seconds — no manual editing required.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834640"/>
            <a:ext cx="4114800" cy="9144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834640"/>
            <a:ext cx="54864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889504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288950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Smart Parsing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60120" y="327355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skills, experience &amp; achievements from any format with 99% accuracy.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54880" y="2834640"/>
            <a:ext cx="4114800" cy="9144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2834640"/>
            <a:ext cx="54864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2889504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49240" y="288950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Context-Aware AI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349240" y="327355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your background to the role for maximum keyword relevance.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3931920"/>
            <a:ext cx="4114800" cy="9144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931920"/>
            <a:ext cx="54864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986784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60120" y="398678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ATS Optimization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60120" y="437083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with 50+ ATS platforms — guaranteed to pass automated filters.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3931920"/>
            <a:ext cx="4114800" cy="9144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3931920"/>
            <a:ext cx="54864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3986784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49240" y="398678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Instant Download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349240" y="437083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recruiter-approved templates. PDF or Word in one click.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D6E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From resume to tailored application in 4 simple steps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1600200"/>
            <a:ext cx="196596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1691640"/>
            <a:ext cx="658368" cy="658368"/>
          </a:xfrm>
          <a:prstGeom prst="ellipse">
            <a:avLst/>
          </a:prstGeom>
          <a:solidFill>
            <a:srgbClr val="2D6EE8"/>
          </a:solidFill>
          <a:ln w="12700">
            <a:solidFill>
              <a:srgbClr val="2D6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6916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2505456"/>
            <a:ext cx="841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84048" y="3145536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Upload Resume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" y="3694176"/>
            <a:ext cx="17556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or upload your existing resume in any format — PDF, Word, or plain text.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267712" y="2761488"/>
            <a:ext cx="164592" cy="36576"/>
          </a:xfrm>
          <a:prstGeom prst="rect">
            <a:avLst/>
          </a:prstGeom>
          <a:solidFill>
            <a:srgbClr val="2D6EE8"/>
          </a:solidFill>
          <a:ln w="12700">
            <a:solidFill>
              <a:srgbClr val="2D6E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50592" y="1600200"/>
            <a:ext cx="196596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090672" y="1691640"/>
            <a:ext cx="658368" cy="658368"/>
          </a:xfrm>
          <a:prstGeom prst="ellipse">
            <a:avLst/>
          </a:prstGeom>
          <a:solidFill>
            <a:srgbClr val="2D6EE8"/>
          </a:solidFill>
          <a:ln w="12700">
            <a:solidFill>
              <a:srgbClr val="2D6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90672" y="16916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999232" y="2505456"/>
            <a:ext cx="841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2560320" y="3145536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Add Job Description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560320" y="3694176"/>
            <a:ext cx="17556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the job description. ResumAI analyzes requirements, keywords, and role priorities.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443984" y="2761488"/>
            <a:ext cx="164592" cy="36576"/>
          </a:xfrm>
          <a:prstGeom prst="rect">
            <a:avLst/>
          </a:prstGeom>
          <a:solidFill>
            <a:srgbClr val="2D6EE8"/>
          </a:solidFill>
          <a:ln w="12700">
            <a:solidFill>
              <a:srgbClr val="2D6E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26864" y="1600200"/>
            <a:ext cx="196596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266944" y="1691640"/>
            <a:ext cx="658368" cy="658368"/>
          </a:xfrm>
          <a:prstGeom prst="ellipse">
            <a:avLst/>
          </a:prstGeom>
          <a:solidFill>
            <a:srgbClr val="2D6EE8"/>
          </a:solidFill>
          <a:ln w="12700">
            <a:solidFill>
              <a:srgbClr val="2D6E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66944" y="16916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175504" y="2505456"/>
            <a:ext cx="841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4736592" y="3145536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Generates Resume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36592" y="3694176"/>
            <a:ext cx="17556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under 60 seconds, a tailored, ATS-optimized resume is created just for that role.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620256" y="2761488"/>
            <a:ext cx="164592" cy="36576"/>
          </a:xfrm>
          <a:prstGeom prst="rect">
            <a:avLst/>
          </a:prstGeom>
          <a:solidFill>
            <a:srgbClr val="2D6EE8"/>
          </a:solidFill>
          <a:ln w="12700">
            <a:solidFill>
              <a:srgbClr val="2D6E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03136" y="1600200"/>
            <a:ext cx="196596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443216" y="1691640"/>
            <a:ext cx="658368" cy="658368"/>
          </a:xfrm>
          <a:prstGeom prst="ellipse">
            <a:avLst/>
          </a:prstGeom>
          <a:solidFill>
            <a:srgbClr val="2D6EE8"/>
          </a:solidFill>
          <a:ln w="12700">
            <a:solidFill>
              <a:srgbClr val="2D6E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43216" y="16916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351776" y="2505456"/>
            <a:ext cx="841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6912864" y="3145536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Download &amp; Apply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912864" y="3694176"/>
            <a:ext cx="17556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as PDF or Word. Share instantly. Apply with confidence.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 OPPORTUNITY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D6E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massive, growing, and underserved market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2377440" cy="2377440"/>
          </a:xfrm>
          <a:prstGeom prst="ellipse">
            <a:avLst/>
          </a:prstGeom>
          <a:solidFill>
            <a:srgbClr val="1A2B5E">
              <a:alpha val="88000"/>
            </a:srgbClr>
          </a:solidFill>
          <a:ln w="25400">
            <a:solidFill>
              <a:srgbClr val="1A2B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373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07568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$15B+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264261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HR &amp; Recruiting Tech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600200" y="1828800"/>
            <a:ext cx="1920240" cy="1920240"/>
          </a:xfrm>
          <a:prstGeom prst="ellipse">
            <a:avLst/>
          </a:prstGeom>
          <a:solidFill>
            <a:srgbClr val="2D6EE8">
              <a:alpha val="88000"/>
            </a:srgbClr>
          </a:solidFill>
          <a:ln w="25400">
            <a:solidFill>
              <a:srgbClr val="2D6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00200" y="19659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6E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00200" y="230428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$4.2B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600200" y="2871216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Resume &amp; Job Search Tools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496312" y="2084832"/>
            <a:ext cx="1417320" cy="1417320"/>
          </a:xfrm>
          <a:prstGeom prst="ellipse">
            <a:avLst/>
          </a:prstGeom>
          <a:solidFill>
            <a:srgbClr val="7C3AED">
              <a:alpha val="88000"/>
            </a:srgbClr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96312" y="22219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496312" y="256032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$420M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496312" y="312724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Addressable Segment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(English-speaking job seekers)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120640" y="1600200"/>
            <a:ext cx="3657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120640" y="1600200"/>
            <a:ext cx="54864" cy="713232"/>
          </a:xfrm>
          <a:prstGeom prst="rect">
            <a:avLst/>
          </a:prstGeom>
          <a:solidFill>
            <a:srgbClr val="2D6EE8"/>
          </a:solidFill>
          <a:ln w="12700">
            <a:solidFill>
              <a:srgbClr val="2D6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30368" y="1673352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6E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1B+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291072" y="17099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applications filed globally each year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120640" y="2441448"/>
            <a:ext cx="3657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120640" y="2441448"/>
            <a:ext cx="54864" cy="713232"/>
          </a:xfrm>
          <a:prstGeom prst="rect">
            <a:avLst/>
          </a:prstGeom>
          <a:solidFill>
            <a:srgbClr val="2D6EE8"/>
          </a:solidFill>
          <a:ln w="12700">
            <a:solidFill>
              <a:srgbClr val="2D6E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30368" y="251460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6E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250M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291072" y="255117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professionals actively job-seeking at any given time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120640" y="3282696"/>
            <a:ext cx="3657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120640" y="3282696"/>
            <a:ext cx="54864" cy="713232"/>
          </a:xfrm>
          <a:prstGeom prst="rect">
            <a:avLst/>
          </a:prstGeom>
          <a:solidFill>
            <a:srgbClr val="2D6EE8"/>
          </a:solidFill>
          <a:ln w="12700">
            <a:solidFill>
              <a:srgbClr val="2D6E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30368" y="3355848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6E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57%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291072" y="339242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recruiters say resume quality is top hiring criterion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120640" y="4123944"/>
            <a:ext cx="3657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120640" y="4123944"/>
            <a:ext cx="54864" cy="713232"/>
          </a:xfrm>
          <a:prstGeom prst="rect">
            <a:avLst/>
          </a:prstGeom>
          <a:solidFill>
            <a:srgbClr val="2D6EE8"/>
          </a:solidFill>
          <a:ln w="12700">
            <a:solidFill>
              <a:srgbClr val="2D6E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4197096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6E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75%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291072" y="423367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applicants screened out by ATS before human review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2D6EE8">
              <a:alpha val="12000"/>
            </a:srgbClr>
          </a:solidFill>
          <a:ln w="12700">
            <a:solidFill>
              <a:srgbClr val="2D6E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6EE8">
              <a:alpha val="80000"/>
            </a:srgbClr>
          </a:solidFill>
          <a:ln w="12700">
            <a:solidFill>
              <a:srgbClr val="2D6E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PRODUCT FEATURES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Everything a job seeker needs to compete and win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" y="1572768"/>
            <a:ext cx="2743200" cy="15087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572768"/>
            <a:ext cx="54864" cy="1508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7007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14984" y="17373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Smart Parsing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286000"/>
            <a:ext cx="2487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PDF, Word &amp; plain text with 99% extraction accuracy.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46120" y="1572768"/>
            <a:ext cx="2743200" cy="15087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1572768"/>
            <a:ext cx="54864" cy="1508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17007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941064" y="17373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Context-Aware Tailoring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83280" y="2286000"/>
            <a:ext cx="2487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your experience to each specific role and keyword set.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72200" y="1572768"/>
            <a:ext cx="2743200" cy="15087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2200" y="1572768"/>
            <a:ext cx="54864" cy="1508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17007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867144" y="17373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ATS Optimization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09360" y="2286000"/>
            <a:ext cx="2487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on 50+ ATS platforms for guaranteed pass-through.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3236976"/>
            <a:ext cx="2743200" cy="15087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3236976"/>
            <a:ext cx="54864" cy="1508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364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014984" y="340156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Instant Formatting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3950208"/>
            <a:ext cx="2487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templates designed by hiring experts.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46120" y="3236976"/>
            <a:ext cx="2743200" cy="15087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46120" y="3236976"/>
            <a:ext cx="54864" cy="1508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83280" y="3364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3941064" y="340156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Keyword Clustering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383280" y="3950208"/>
            <a:ext cx="2487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&amp; prioritizes industry keywords for maximum match score.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72200" y="3236976"/>
            <a:ext cx="2743200" cy="15087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72200" y="3236976"/>
            <a:ext cx="54864" cy="1508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09360" y="3364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867144" y="340156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Privacy-First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309360" y="3950208"/>
            <a:ext cx="2487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compliant. GDPR-ready. No data sharing without consent.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TRACTION &amp; PROOF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D6E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Early results validate the product-market fit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1572768"/>
            <a:ext cx="1965960" cy="169164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572768"/>
            <a:ext cx="1965960" cy="54864"/>
          </a:xfrm>
          <a:prstGeom prst="rect">
            <a:avLst/>
          </a:prstGeom>
          <a:solidFill>
            <a:srgbClr val="2D6EE8"/>
          </a:solidFill>
          <a:ln w="12700">
            <a:solidFill>
              <a:srgbClr val="2D6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691640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+50%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74320" y="237744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Interview Callback Rate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2871216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generic resumes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50592" y="1572768"/>
            <a:ext cx="1965960" cy="169164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50592" y="1572768"/>
            <a:ext cx="1965960" cy="54864"/>
          </a:xfrm>
          <a:prstGeom prst="rect">
            <a:avLst/>
          </a:prstGeom>
          <a:solidFill>
            <a:srgbClr val="2D6EE8"/>
          </a:solidFill>
          <a:ln w="12700">
            <a:solidFill>
              <a:srgbClr val="2D6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50592" y="1691640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10x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450592" y="237744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Faster Resume Tailoring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450592" y="2871216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vs. hours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26864" y="1572768"/>
            <a:ext cx="1965960" cy="169164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26864" y="1572768"/>
            <a:ext cx="1965960" cy="54864"/>
          </a:xfrm>
          <a:prstGeom prst="rect">
            <a:avLst/>
          </a:prstGeom>
          <a:solidFill>
            <a:srgbClr val="2D6EE8"/>
          </a:solidFill>
          <a:ln w="12700">
            <a:solidFill>
              <a:srgbClr val="2D6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26864" y="1691640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99%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4626864" y="237744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ATS Compatibility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26864" y="2871216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50+ platforms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803136" y="1572768"/>
            <a:ext cx="1965960" cy="169164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03136" y="1572768"/>
            <a:ext cx="1965960" cy="54864"/>
          </a:xfrm>
          <a:prstGeom prst="rect">
            <a:avLst/>
          </a:prstGeom>
          <a:solidFill>
            <a:srgbClr val="2D6EE8"/>
          </a:solidFill>
          <a:ln w="12700">
            <a:solidFill>
              <a:srgbClr val="2D6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03136" y="1691640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 60s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6803136" y="237744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Time to Tailored Resume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03136" y="2871216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upload to download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3401568"/>
            <a:ext cx="2788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3401568"/>
            <a:ext cx="2788920" cy="45720"/>
          </a:xfrm>
          <a:prstGeom prst="rect">
            <a:avLst/>
          </a:prstGeom>
          <a:solidFill>
            <a:srgbClr val="2D6EE8"/>
          </a:solidFill>
          <a:ln w="12700">
            <a:solidFill>
              <a:srgbClr val="2D6E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" y="347472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D6E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❝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402336" y="3822192"/>
            <a:ext cx="2542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got 3 interviews in one week after switching to ResumAI. I used to spend an entire evening on each application."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02336" y="4718304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6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Sarah K., Software Engineer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264408" y="3401568"/>
            <a:ext cx="2788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64408" y="3401568"/>
            <a:ext cx="2788920" cy="45720"/>
          </a:xfrm>
          <a:prstGeom prst="rect">
            <a:avLst/>
          </a:prstGeom>
          <a:solidFill>
            <a:srgbClr val="2D6EE8"/>
          </a:solidFill>
          <a:ln w="12700">
            <a:solidFill>
              <a:srgbClr val="2D6E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74136" y="347472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D6E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❝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3392424" y="3822192"/>
            <a:ext cx="2542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"Finally an AI that actually understands what recruiters look for. My callback rate doubled in 2 weeks."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392424" y="4718304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6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Marcus T., Product Manager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254496" y="3401568"/>
            <a:ext cx="2788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254496" y="3401568"/>
            <a:ext cx="2788920" cy="45720"/>
          </a:xfrm>
          <a:prstGeom prst="rect">
            <a:avLst/>
          </a:prstGeom>
          <a:solidFill>
            <a:srgbClr val="2D6EE8"/>
          </a:solidFill>
          <a:ln w="12700">
            <a:solidFill>
              <a:srgbClr val="2D6E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64224" y="347472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D6E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❝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6382512" y="3822192"/>
            <a:ext cx="2542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ATS optimization alone is worth it. My resume was invisible before ResumAI."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382512" y="4718304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6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Priya M., Data Analyst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 MODEL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D6E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SaaS subscription with a freemium funnel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2633472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664208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Free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048256"/>
            <a:ext cx="2633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2670048"/>
            <a:ext cx="2633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8368" y="2962656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3 resume generations/mo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58368" y="3300984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Basic ATS check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58368" y="3639312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Standard templates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58368" y="3977640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PDF export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310128" y="1554480"/>
            <a:ext cx="2633472" cy="3337560"/>
          </a:xfrm>
          <a:prstGeom prst="rect">
            <a:avLst/>
          </a:prstGeom>
          <a:solidFill>
            <a:srgbClr val="1A2B5E"/>
          </a:solidFill>
          <a:ln w="25400">
            <a:solidFill>
              <a:srgbClr val="2D6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10128" y="1554480"/>
            <a:ext cx="2633472" cy="384048"/>
          </a:xfrm>
          <a:prstGeom prst="rect">
            <a:avLst/>
          </a:prstGeom>
          <a:solidFill>
            <a:srgbClr val="2D6EE8"/>
          </a:solidFill>
          <a:ln w="12700">
            <a:solidFill>
              <a:srgbClr val="2D6E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10128" y="1572768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10128" y="2011680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6E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310128" y="2395728"/>
            <a:ext cx="2633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$19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3310128" y="3017520"/>
            <a:ext cx="2633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511296" y="3310128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Unlimited generations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511296" y="3648456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 ATS optimization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511296" y="3986784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Premium templates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511296" y="4325112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PDF + Word export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511296" y="4663440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Priority support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63056" y="1554480"/>
            <a:ext cx="2633472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163056" y="1664208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Team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163056" y="2048256"/>
            <a:ext cx="2633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$49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6163056" y="2670048"/>
            <a:ext cx="2633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64224" y="2962656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Everything in Pro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364224" y="3300984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5 team seats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364224" y="3639312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Analytics dashboard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364224" y="3977640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Custom branding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364224" y="4315968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API access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200400" cy="3200400"/>
          </a:xfrm>
          <a:prstGeom prst="ellipse">
            <a:avLst/>
          </a:prstGeom>
          <a:solidFill>
            <a:srgbClr val="2D6EE8">
              <a:alpha val="12000"/>
            </a:srgbClr>
          </a:solidFill>
          <a:ln w="12700">
            <a:solidFill>
              <a:srgbClr val="2D6E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6EE8">
              <a:alpha val="80000"/>
            </a:srgbClr>
          </a:solidFill>
          <a:ln w="12700">
            <a:solidFill>
              <a:srgbClr val="2D6E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COMPETITIVE LANDSCAPE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ResumAI wins where others fall short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65760" y="1572768"/>
            <a:ext cx="2286000" cy="4572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572768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Feature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51760" y="1572768"/>
            <a:ext cx="1463040" cy="457200"/>
          </a:xfrm>
          <a:prstGeom prst="rect">
            <a:avLst/>
          </a:prstGeom>
          <a:solidFill>
            <a:srgbClr val="2D6E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24912" y="1572768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ResumAI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0" y="1572768"/>
            <a:ext cx="1463040" cy="4572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87952" y="1572768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Resume.io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577840" y="1572768"/>
            <a:ext cx="1463040" cy="4572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50992" y="1572768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Zety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040880" y="1572768"/>
            <a:ext cx="1463040" cy="4572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14032" y="1572768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Kickresume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029968"/>
            <a:ext cx="2286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2029968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tailoring per JD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651760" y="2029968"/>
            <a:ext cx="1463040" cy="502920"/>
          </a:xfrm>
          <a:prstGeom prst="rect">
            <a:avLst/>
          </a:prstGeom>
          <a:solidFill>
            <a:srgbClr val="2D6EE8">
              <a:alpha val="12000"/>
            </a:srgbClr>
          </a:solidFill>
          <a:ln w="12700">
            <a:solidFill>
              <a:srgbClr val="E0E7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24912" y="2029968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14800" y="2029968"/>
            <a:ext cx="1463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87952" y="2029968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577840" y="2029968"/>
            <a:ext cx="1463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50992" y="2029968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040880" y="2029968"/>
            <a:ext cx="1463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14032" y="2029968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2532888"/>
            <a:ext cx="2286000" cy="502920"/>
          </a:xfrm>
          <a:prstGeom prst="rect">
            <a:avLst/>
          </a:prstGeom>
          <a:solidFill>
            <a:srgbClr val="F4F6FB"/>
          </a:solidFill>
          <a:ln w="12700">
            <a:solidFill>
              <a:srgbClr val="E0E7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" y="2532888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optimization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651760" y="2532888"/>
            <a:ext cx="1463040" cy="502920"/>
          </a:xfrm>
          <a:prstGeom prst="rect">
            <a:avLst/>
          </a:prstGeom>
          <a:solidFill>
            <a:srgbClr val="2D6EE8">
              <a:alpha val="12000"/>
            </a:srgbClr>
          </a:solidFill>
          <a:ln w="12700">
            <a:solidFill>
              <a:srgbClr val="E0E7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24912" y="2532888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114800" y="2532888"/>
            <a:ext cx="1463040" cy="502920"/>
          </a:xfrm>
          <a:prstGeom prst="rect">
            <a:avLst/>
          </a:prstGeom>
          <a:solidFill>
            <a:srgbClr val="F4F6FB"/>
          </a:solidFill>
          <a:ln w="12700">
            <a:solidFill>
              <a:srgbClr val="E0E7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87952" y="2532888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577840" y="2532888"/>
            <a:ext cx="1463040" cy="502920"/>
          </a:xfrm>
          <a:prstGeom prst="rect">
            <a:avLst/>
          </a:prstGeom>
          <a:solidFill>
            <a:srgbClr val="F4F6FB"/>
          </a:solidFill>
          <a:ln w="12700">
            <a:solidFill>
              <a:srgbClr val="E0E7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50992" y="2532888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040880" y="2532888"/>
            <a:ext cx="1463040" cy="502920"/>
          </a:xfrm>
          <a:prstGeom prst="rect">
            <a:avLst/>
          </a:prstGeom>
          <a:solidFill>
            <a:srgbClr val="F4F6FB"/>
          </a:solidFill>
          <a:ln w="12700">
            <a:solidFill>
              <a:srgbClr val="E0E7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14032" y="2532888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65760" y="3035808"/>
            <a:ext cx="2286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E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8912" y="3035808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generation &lt; 60s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651760" y="3035808"/>
            <a:ext cx="1463040" cy="502920"/>
          </a:xfrm>
          <a:prstGeom prst="rect">
            <a:avLst/>
          </a:prstGeom>
          <a:solidFill>
            <a:srgbClr val="2D6EE8">
              <a:alpha val="12000"/>
            </a:srgbClr>
          </a:solidFill>
          <a:ln w="12700">
            <a:solidFill>
              <a:srgbClr val="E0E7E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24912" y="3035808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114800" y="3035808"/>
            <a:ext cx="1463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E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87952" y="3035808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577840" y="3035808"/>
            <a:ext cx="1463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E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50992" y="3035808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040880" y="3035808"/>
            <a:ext cx="1463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E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114032" y="3035808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65760" y="3538728"/>
            <a:ext cx="2286000" cy="502920"/>
          </a:xfrm>
          <a:prstGeom prst="rect">
            <a:avLst/>
          </a:prstGeom>
          <a:solidFill>
            <a:srgbClr val="F4F6FB"/>
          </a:solidFill>
          <a:ln w="12700">
            <a:solidFill>
              <a:srgbClr val="E0E7E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38912" y="3538728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clustering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2651760" y="3538728"/>
            <a:ext cx="1463040" cy="502920"/>
          </a:xfrm>
          <a:prstGeom prst="rect">
            <a:avLst/>
          </a:prstGeom>
          <a:solidFill>
            <a:srgbClr val="2D6EE8">
              <a:alpha val="12000"/>
            </a:srgbClr>
          </a:solidFill>
          <a:ln w="12700">
            <a:solidFill>
              <a:srgbClr val="E0E7E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724912" y="3538728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114800" y="3538728"/>
            <a:ext cx="1463040" cy="502920"/>
          </a:xfrm>
          <a:prstGeom prst="rect">
            <a:avLst/>
          </a:prstGeom>
          <a:solidFill>
            <a:srgbClr val="F4F6FB"/>
          </a:solidFill>
          <a:ln w="12700">
            <a:solidFill>
              <a:srgbClr val="E0E7E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187952" y="3538728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5577840" y="3538728"/>
            <a:ext cx="1463040" cy="502920"/>
          </a:xfrm>
          <a:prstGeom prst="rect">
            <a:avLst/>
          </a:prstGeom>
          <a:solidFill>
            <a:srgbClr val="F4F6FB"/>
          </a:solidFill>
          <a:ln w="12700">
            <a:solidFill>
              <a:srgbClr val="E0E7E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650992" y="3538728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7040880" y="3538728"/>
            <a:ext cx="1463040" cy="502920"/>
          </a:xfrm>
          <a:prstGeom prst="rect">
            <a:avLst/>
          </a:prstGeom>
          <a:solidFill>
            <a:srgbClr val="F4F6FB"/>
          </a:solidFill>
          <a:ln w="12700">
            <a:solidFill>
              <a:srgbClr val="E0E7E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114032" y="3538728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365760" y="4041648"/>
            <a:ext cx="2286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E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38912" y="4041648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available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2651760" y="4041648"/>
            <a:ext cx="1463040" cy="502920"/>
          </a:xfrm>
          <a:prstGeom prst="rect">
            <a:avLst/>
          </a:prstGeom>
          <a:solidFill>
            <a:srgbClr val="2D6EE8">
              <a:alpha val="12000"/>
            </a:srgbClr>
          </a:solidFill>
          <a:ln w="12700">
            <a:solidFill>
              <a:srgbClr val="E0E7E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724912" y="4041648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4114800" y="4041648"/>
            <a:ext cx="1463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E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187952" y="4041648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5577840" y="4041648"/>
            <a:ext cx="1463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E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650992" y="4041648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7040880" y="4041648"/>
            <a:ext cx="1463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E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114032" y="4041648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365760" y="4544568"/>
            <a:ext cx="2286000" cy="502920"/>
          </a:xfrm>
          <a:prstGeom prst="rect">
            <a:avLst/>
          </a:prstGeom>
          <a:solidFill>
            <a:srgbClr val="F4F6FB"/>
          </a:solidFill>
          <a:ln w="12700">
            <a:solidFill>
              <a:srgbClr val="E0E7E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38912" y="4544568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Privacy-first / SOC 2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2651760" y="4544568"/>
            <a:ext cx="1463040" cy="502920"/>
          </a:xfrm>
          <a:prstGeom prst="rect">
            <a:avLst/>
          </a:prstGeom>
          <a:solidFill>
            <a:srgbClr val="2D6EE8">
              <a:alpha val="12000"/>
            </a:srgbClr>
          </a:solidFill>
          <a:ln w="12700">
            <a:solidFill>
              <a:srgbClr val="E0E7E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724912" y="4544568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4114800" y="4544568"/>
            <a:ext cx="1463040" cy="502920"/>
          </a:xfrm>
          <a:prstGeom prst="rect">
            <a:avLst/>
          </a:prstGeom>
          <a:solidFill>
            <a:srgbClr val="F4F6FB"/>
          </a:solidFill>
          <a:ln w="12700">
            <a:solidFill>
              <a:srgbClr val="E0E7E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187952" y="4544568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5577840" y="4544568"/>
            <a:ext cx="1463040" cy="502920"/>
          </a:xfrm>
          <a:prstGeom prst="rect">
            <a:avLst/>
          </a:prstGeom>
          <a:solidFill>
            <a:srgbClr val="F4F6FB"/>
          </a:solidFill>
          <a:ln w="12700">
            <a:solidFill>
              <a:srgbClr val="E0E7E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650992" y="4544568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7040880" y="4544568"/>
            <a:ext cx="1463040" cy="502920"/>
          </a:xfrm>
          <a:prstGeom prst="rect">
            <a:avLst/>
          </a:prstGeom>
          <a:solidFill>
            <a:srgbClr val="F4F6FB"/>
          </a:solidFill>
          <a:ln w="12700">
            <a:solidFill>
              <a:srgbClr val="E0E7EF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114032" y="4544568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8321040" y="1572768"/>
            <a:ext cx="530352" cy="3520440"/>
          </a:xfrm>
          <a:prstGeom prst="rect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321040" y="2286000"/>
            <a:ext cx="47548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ResumAI combines all 6 capabilities.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GO-TO-MARKET STRATEGY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D6E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Product-led growth with viral job-search communities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1572768"/>
            <a:ext cx="278892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572768"/>
            <a:ext cx="2788920" cy="566928"/>
          </a:xfrm>
          <a:prstGeom prst="rect">
            <a:avLst/>
          </a:prstGeom>
          <a:solidFill>
            <a:srgbClr val="2D6EE8"/>
          </a:solidFill>
          <a:ln w="12700">
            <a:solidFill>
              <a:srgbClr val="2D6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60934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184708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Organic &amp; Community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340864"/>
            <a:ext cx="201168" cy="201168"/>
          </a:xfrm>
          <a:prstGeom prst="ellipse">
            <a:avLst/>
          </a:prstGeom>
          <a:solidFill>
            <a:srgbClr val="2D6EE8"/>
          </a:solidFill>
          <a:ln w="12700">
            <a:solidFill>
              <a:srgbClr val="2D6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304288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&amp; Reddit (r/jobs, r/cscareerquestions)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145536"/>
            <a:ext cx="201168" cy="201168"/>
          </a:xfrm>
          <a:prstGeom prst="ellipse">
            <a:avLst/>
          </a:prstGeom>
          <a:solidFill>
            <a:srgbClr val="2D6EE8"/>
          </a:solidFill>
          <a:ln w="12700">
            <a:solidFill>
              <a:srgbClr val="2D6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108960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content: resume tips, ATS guides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950208"/>
            <a:ext cx="201168" cy="201168"/>
          </a:xfrm>
          <a:prstGeom prst="ellipse">
            <a:avLst/>
          </a:prstGeom>
          <a:solidFill>
            <a:srgbClr val="2D6EE8"/>
          </a:solidFill>
          <a:ln w="12700">
            <a:solidFill>
              <a:srgbClr val="2D6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913632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 funnel — free tier drives virality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46120" y="1572768"/>
            <a:ext cx="278892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46120" y="1572768"/>
            <a:ext cx="2788920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160934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383280" y="184708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Partnerships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29000" y="2340864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03320" y="2304288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career centers &amp; bootcamps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429000" y="3145536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03320" y="3108960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platform integrations (LinkedIn, Indeed)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29000" y="3950208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03320" y="3913632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program for power users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17920" y="1572768"/>
            <a:ext cx="278892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17920" y="1572768"/>
            <a:ext cx="2788920" cy="566928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55080" y="160934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355080" y="184708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Paid &amp; Enterprise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00800" y="2340864"/>
            <a:ext cx="201168" cy="201168"/>
          </a:xfrm>
          <a:prstGeom prst="ellipse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75120" y="2304288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marketing (Google, LinkedIn Ads)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400800" y="3145536"/>
            <a:ext cx="201168" cy="201168"/>
          </a:xfrm>
          <a:prstGeom prst="ellipse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75120" y="3108960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B2B: staffing agencies &amp; career coaches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400800" y="3950208"/>
            <a:ext cx="201168" cy="201168"/>
          </a:xfrm>
          <a:prstGeom prst="ellipse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75120" y="3913632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licensing to HR-tech partners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1828800"/>
            <a:ext cx="4572000" cy="4572000"/>
          </a:xfrm>
          <a:prstGeom prst="ellipse">
            <a:avLst/>
          </a:prstGeom>
          <a:solidFill>
            <a:srgbClr val="2D6EE8">
              <a:alpha val="12000"/>
            </a:srgbClr>
          </a:solidFill>
          <a:ln w="12700">
            <a:solidFill>
              <a:srgbClr val="2D6E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-457200"/>
            <a:ext cx="3657600" cy="3657600"/>
          </a:xfrm>
          <a:prstGeom prst="ellipse">
            <a:avLst/>
          </a:prstGeom>
          <a:solidFill>
            <a:srgbClr val="7C3AED">
              <a:alpha val="18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6EE8">
              <a:alpha val="80000"/>
            </a:srgbClr>
          </a:solidFill>
          <a:ln w="12700">
            <a:solidFill>
              <a:srgbClr val="2D6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ASK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046720" y="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Raising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389888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$1.5M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816352"/>
            <a:ext cx="5303520" cy="36576"/>
          </a:xfrm>
          <a:prstGeom prst="rect">
            <a:avLst/>
          </a:prstGeom>
          <a:solidFill>
            <a:srgbClr val="2D6EE8"/>
          </a:solidFill>
          <a:ln w="12700">
            <a:solidFill>
              <a:srgbClr val="2D6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9443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FUNDS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33756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40%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70432" y="33375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Product &amp; Engineering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70432" y="3538728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AI models, ATS integrations, mobile app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29200" y="3383280"/>
            <a:ext cx="2560320" cy="201168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0" y="3383280"/>
            <a:ext cx="1024128" cy="201168"/>
          </a:xfrm>
          <a:prstGeom prst="rect">
            <a:avLst/>
          </a:prstGeom>
          <a:solidFill>
            <a:srgbClr val="2D6EE8"/>
          </a:solidFill>
          <a:ln w="12700">
            <a:solidFill>
              <a:srgbClr val="2D6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4904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30%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70432" y="37490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Growth &amp; Marketing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70432" y="3950208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SEO, paid acquisition, partnership development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29200" y="3794760"/>
            <a:ext cx="2560320" cy="201168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0" y="3794760"/>
            <a:ext cx="768096" cy="201168"/>
          </a:xfrm>
          <a:prstGeom prst="rect">
            <a:avLst/>
          </a:prstGeom>
          <a:solidFill>
            <a:srgbClr val="2D6EE8"/>
          </a:solidFill>
          <a:ln w="12700">
            <a:solidFill>
              <a:srgbClr val="2D6E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16052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20%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70432" y="41605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Ops &amp; Infrastructure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70432" y="4361688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compliance, reliability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029200" y="4206240"/>
            <a:ext cx="2560320" cy="201168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0" y="4206240"/>
            <a:ext cx="512064" cy="201168"/>
          </a:xfrm>
          <a:prstGeom prst="rect">
            <a:avLst/>
          </a:prstGeom>
          <a:solidFill>
            <a:srgbClr val="2D6EE8"/>
          </a:solidFill>
          <a:ln w="12700">
            <a:solidFill>
              <a:srgbClr val="2D6E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57200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10%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70432" y="457200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Team &amp; Operations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70432" y="4773168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hires: design, CS, data science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029200" y="4617720"/>
            <a:ext cx="2560320" cy="201168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0" y="4617720"/>
            <a:ext cx="256032" cy="201168"/>
          </a:xfrm>
          <a:prstGeom prst="rect">
            <a:avLst/>
          </a:prstGeom>
          <a:solidFill>
            <a:srgbClr val="2D6EE8"/>
          </a:solidFill>
          <a:ln w="12700">
            <a:solidFill>
              <a:srgbClr val="2D6E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2816352"/>
            <a:ext cx="2834640" cy="21031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35040" y="290779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18-Month Milestones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035040" y="331012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10,000 paid subscribers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035040" y="365760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3 enterprise partnerships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035040" y="400507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Mobile app launch (iOS + Android)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035040" y="435254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$500K ARR by month 12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457200"/>
            <a:ext cx="3657600" cy="3657600"/>
          </a:xfrm>
          <a:prstGeom prst="ellipse">
            <a:avLst/>
          </a:prstGeom>
          <a:solidFill>
            <a:srgbClr val="2D6EE8">
              <a:alpha val="15000"/>
            </a:srgbClr>
          </a:solidFill>
          <a:ln w="12700">
            <a:solidFill>
              <a:srgbClr val="2D6E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2743200" cy="2743200"/>
          </a:xfrm>
          <a:prstGeom prst="ellipse">
            <a:avLst/>
          </a:prstGeom>
          <a:solidFill>
            <a:srgbClr val="7C3AED">
              <a:alpha val="18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828800"/>
            <a:ext cx="2286000" cy="2286000"/>
          </a:xfrm>
          <a:prstGeom prst="ellipse">
            <a:avLst/>
          </a:prstGeom>
          <a:solidFill>
            <a:srgbClr val="2D6EE8">
              <a:alpha val="12000"/>
            </a:srgbClr>
          </a:solidFill>
          <a:ln w="12700">
            <a:solidFill>
              <a:srgbClr val="2D6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83280" y="777240"/>
            <a:ext cx="475488" cy="475488"/>
          </a:xfrm>
          <a:prstGeom prst="rect">
            <a:avLst/>
          </a:prstGeom>
          <a:solidFill>
            <a:srgbClr val="2D6EE8"/>
          </a:solidFill>
          <a:ln w="12700">
            <a:solidFill>
              <a:srgbClr val="2D6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83280" y="7772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913632" y="79552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ResumAI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141732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Let's transform the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way the world applies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 jobs — together.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3200400" y="3310128"/>
            <a:ext cx="2743200" cy="530352"/>
          </a:xfrm>
          <a:prstGeom prst="rect">
            <a:avLst/>
          </a:prstGeom>
          <a:solidFill>
            <a:srgbClr val="2D6EE8"/>
          </a:solidFill>
          <a:ln w="12700">
            <a:solidFill>
              <a:srgbClr val="2D6E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3310128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Generate Your Resume Free →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0" y="40050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resumai.zakariabaqasse.dev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4407408"/>
            <a:ext cx="9144000" cy="731520"/>
          </a:xfrm>
          <a:prstGeom prst="rect">
            <a:avLst/>
          </a:prstGeom>
          <a:solidFill>
            <a:srgbClr val="2D6EE8">
              <a:alpha val="28000"/>
            </a:srgbClr>
          </a:solidFill>
          <a:ln w="12700">
            <a:solidFill>
              <a:srgbClr val="2D6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40740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hello@resumai.dev   |   🌐  resumai.zakariabaqasse.dev   |   Seed Round 2025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ResumAI Investor Pitch Deck</dc:title>
  <dc:subject>PptxGenJS Presentation</dc:subject>
  <dc:creator>ResumAI</dc:creator>
  <cp:lastModifiedBy>ResumAI</cp:lastModifiedBy>
  <cp:revision>1</cp:revision>
  <dcterms:created xsi:type="dcterms:W3CDTF">2026-06-30T16:36:55Z</dcterms:created>
  <dcterms:modified xsi:type="dcterms:W3CDTF">2026-06-30T16:36:55Z</dcterms:modified>
</cp:coreProperties>
</file>